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5486400" cy="8229600"/>
          </a:xfrm>
          <a:prstGeom prst="rect">
            <a:avLst/>
          </a:prstGeom>
        </p:spPr>
      </p:pic>
      <p:sp>
        <p:nvSpPr>
          <p:cNvPr id="3" name="TextBox 2"/>
          <p:cNvSpPr txBox="1"/>
          <p:nvPr/>
        </p:nvSpPr>
        <p:spPr>
          <a:xfrm>
            <a:off x="6273800" y="1524000"/>
            <a:ext cx="7543800" cy="1905000"/>
          </a:xfrm>
          <a:prstGeom prst="rect">
            <a:avLst/>
          </a:prstGeom>
          <a:noFill/>
        </p:spPr>
        <p:txBody>
          <a:bodyPr wrap="square" anchor="b">
            <a:spAutoFit/>
          </a:bodyPr>
          <a:lstStyle/>
          <a:p>
            <a:pPr algn="l">
              <a:defRPr sz="4400" b="1" i="0">
                <a:solidFill>
                  <a:srgbClr val="5C4E3D"/>
                </a:solidFill>
                <a:latin typeface="Libre Baskerville"/>
              </a:defRPr>
            </a:pPr>
            <a:r>
              <a:t>GUI кітапхана жүйесі</a:t>
            </a:r>
          </a:p>
        </p:txBody>
      </p:sp>
      <p:sp>
        <p:nvSpPr>
          <p:cNvPr id="4" name="TextBox 3"/>
          <p:cNvSpPr txBox="1"/>
          <p:nvPr/>
        </p:nvSpPr>
        <p:spPr>
          <a:xfrm>
            <a:off x="6273800" y="3937000"/>
            <a:ext cx="7543800" cy="1803400"/>
          </a:xfrm>
          <a:prstGeom prst="rect">
            <a:avLst/>
          </a:prstGeom>
          <a:noFill/>
        </p:spPr>
        <p:txBody>
          <a:bodyPr wrap="square" anchor="t">
            <a:spAutoFit/>
          </a:bodyPr>
          <a:lstStyle/>
          <a:p>
            <a:pPr algn="l">
              <a:defRPr sz="1750" b="0" i="0">
                <a:solidFill>
                  <a:srgbClr val="454240"/>
                </a:solidFill>
                <a:latin typeface="DM Sans"/>
              </a:defRPr>
            </a:pPr>
            <a:r>
              <a:t>GUI (Графикалық пайдаланушы интерфейсі) дегеніміз - бұл экранда бейнелер мен белгішелер арқылы бағдарламалармен жұмыс істеуге мүмкіндік беретін жүйе. Алғашқы компьютерлерде текстік интерфейс қолданылғанымен, 1970-1980 жылдары Xerox PARC зертханасында алғашқы GUI жасалып, интерфейс дизайнында революция жасады. GUI-дің негізгі элементтеріне терезелер, белгішелер, мәзірлер, батырмалар және курсор жатады, олардың әрқайсысы белгілі бір функцияны орындайды.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5486400" cy="8229600"/>
          </a:xfrm>
          <a:prstGeom prst="rect">
            <a:avLst/>
          </a:prstGeom>
        </p:spPr>
      </p:pic>
      <p:sp>
        <p:nvSpPr>
          <p:cNvPr id="3" name="TextBox 2"/>
          <p:cNvSpPr txBox="1"/>
          <p:nvPr/>
        </p:nvSpPr>
        <p:spPr>
          <a:xfrm>
            <a:off x="6273800" y="508000"/>
            <a:ext cx="7543800" cy="1270000"/>
          </a:xfrm>
          <a:prstGeom prst="rect">
            <a:avLst/>
          </a:prstGeom>
          <a:noFill/>
        </p:spPr>
        <p:txBody>
          <a:bodyPr wrap="square" anchor="t">
            <a:spAutoFit/>
          </a:bodyPr>
          <a:lstStyle/>
          <a:p>
            <a:pPr algn="l">
              <a:defRPr sz="4400" b="1" i="0">
                <a:solidFill>
                  <a:srgbClr val="5C4E3D"/>
                </a:solidFill>
                <a:latin typeface="Libre Baskerville"/>
              </a:defRPr>
            </a:pPr>
            <a:r>
              <a:t>GUI түрлері</a:t>
            </a:r>
          </a:p>
        </p:txBody>
      </p:sp>
      <p:sp>
        <p:nvSpPr>
          <p:cNvPr id="4" name="Rounded Rectangle 3"/>
          <p:cNvSpPr/>
          <p:nvPr/>
        </p:nvSpPr>
        <p:spPr>
          <a:xfrm>
            <a:off x="6273800" y="2032000"/>
            <a:ext cx="36576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185400" y="2032000"/>
            <a:ext cx="36576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73800" y="4699000"/>
            <a:ext cx="75692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2286000"/>
            <a:ext cx="3467100" cy="381000"/>
          </a:xfrm>
          <a:prstGeom prst="rect">
            <a:avLst/>
          </a:prstGeom>
          <a:noFill/>
        </p:spPr>
        <p:txBody>
          <a:bodyPr wrap="square" anchor="t">
            <a:spAutoFit/>
          </a:bodyPr>
          <a:lstStyle/>
          <a:p>
            <a:pPr algn="l">
              <a:defRPr sz="2200" b="1" i="0">
                <a:solidFill>
                  <a:srgbClr val="454240"/>
                </a:solidFill>
                <a:latin typeface="Libre Baskerville"/>
              </a:defRPr>
            </a:pPr>
            <a:r>
              <a:t>Windows GUI</a:t>
            </a:r>
          </a:p>
        </p:txBody>
      </p:sp>
      <p:sp>
        <p:nvSpPr>
          <p:cNvPr id="8" name="TextBox 7"/>
          <p:cNvSpPr txBox="1"/>
          <p:nvPr/>
        </p:nvSpPr>
        <p:spPr>
          <a:xfrm>
            <a:off x="6400800" y="2667000"/>
            <a:ext cx="3467100" cy="1587500"/>
          </a:xfrm>
          <a:prstGeom prst="rect">
            <a:avLst/>
          </a:prstGeom>
          <a:noFill/>
        </p:spPr>
        <p:txBody>
          <a:bodyPr wrap="square" anchor="t">
            <a:spAutoFit/>
          </a:bodyPr>
          <a:lstStyle/>
          <a:p>
            <a:pPr algn="l">
              <a:defRPr sz="1750" b="0" i="0">
                <a:solidFill>
                  <a:srgbClr val="454240"/>
                </a:solidFill>
                <a:latin typeface="DM Sans"/>
              </a:defRPr>
            </a:pPr>
            <a:r>
              <a:t>Операциялық жүйелерде, мысалы Windows, macOS, Linux-те кеңінен қолданылады.</a:t>
            </a:r>
          </a:p>
        </p:txBody>
      </p:sp>
      <p:sp>
        <p:nvSpPr>
          <p:cNvPr id="9" name="TextBox 8"/>
          <p:cNvSpPr txBox="1"/>
          <p:nvPr/>
        </p:nvSpPr>
        <p:spPr>
          <a:xfrm>
            <a:off x="10312400" y="2286000"/>
            <a:ext cx="3467100" cy="381000"/>
          </a:xfrm>
          <a:prstGeom prst="rect">
            <a:avLst/>
          </a:prstGeom>
          <a:noFill/>
        </p:spPr>
        <p:txBody>
          <a:bodyPr wrap="square" anchor="t">
            <a:spAutoFit/>
          </a:bodyPr>
          <a:lstStyle/>
          <a:p>
            <a:pPr algn="l">
              <a:defRPr sz="2200" b="1" i="0">
                <a:solidFill>
                  <a:srgbClr val="454240"/>
                </a:solidFill>
                <a:latin typeface="Libre Baskerville"/>
              </a:defRPr>
            </a:pPr>
            <a:r>
              <a:t>Web GUI</a:t>
            </a:r>
          </a:p>
        </p:txBody>
      </p:sp>
      <p:sp>
        <p:nvSpPr>
          <p:cNvPr id="10" name="TextBox 9"/>
          <p:cNvSpPr txBox="1"/>
          <p:nvPr/>
        </p:nvSpPr>
        <p:spPr>
          <a:xfrm>
            <a:off x="10312400" y="2667000"/>
            <a:ext cx="3467100" cy="1587500"/>
          </a:xfrm>
          <a:prstGeom prst="rect">
            <a:avLst/>
          </a:prstGeom>
          <a:noFill/>
        </p:spPr>
        <p:txBody>
          <a:bodyPr wrap="square" anchor="t">
            <a:spAutoFit/>
          </a:bodyPr>
          <a:lstStyle/>
          <a:p>
            <a:pPr algn="l">
              <a:defRPr sz="1750" b="0" i="0">
                <a:solidFill>
                  <a:srgbClr val="454240"/>
                </a:solidFill>
                <a:latin typeface="DM Sans"/>
              </a:defRPr>
            </a:pPr>
            <a:r>
              <a:t>Интернет-браузерлер арқылы қолжетімді, мысалы, веб-сайттар мен онлайн-қызметтер.</a:t>
            </a:r>
          </a:p>
        </p:txBody>
      </p:sp>
      <p:sp>
        <p:nvSpPr>
          <p:cNvPr id="11" name="TextBox 10"/>
          <p:cNvSpPr txBox="1"/>
          <p:nvPr/>
        </p:nvSpPr>
        <p:spPr>
          <a:xfrm>
            <a:off x="6400800" y="4953000"/>
            <a:ext cx="7378700" cy="381000"/>
          </a:xfrm>
          <a:prstGeom prst="rect">
            <a:avLst/>
          </a:prstGeom>
          <a:noFill/>
        </p:spPr>
        <p:txBody>
          <a:bodyPr wrap="square" anchor="t">
            <a:spAutoFit/>
          </a:bodyPr>
          <a:lstStyle/>
          <a:p>
            <a:pPr algn="l">
              <a:defRPr sz="2200" b="1" i="0">
                <a:solidFill>
                  <a:srgbClr val="454240"/>
                </a:solidFill>
                <a:latin typeface="Libre Baskerville"/>
              </a:defRPr>
            </a:pPr>
            <a:r>
              <a:t>Гибридті GUI</a:t>
            </a:r>
          </a:p>
        </p:txBody>
      </p:sp>
      <p:sp>
        <p:nvSpPr>
          <p:cNvPr id="12" name="TextBox 11"/>
          <p:cNvSpPr txBox="1"/>
          <p:nvPr/>
        </p:nvSpPr>
        <p:spPr>
          <a:xfrm>
            <a:off x="6400800" y="5334000"/>
            <a:ext cx="7378700" cy="1587500"/>
          </a:xfrm>
          <a:prstGeom prst="rect">
            <a:avLst/>
          </a:prstGeom>
          <a:noFill/>
        </p:spPr>
        <p:txBody>
          <a:bodyPr wrap="square" anchor="t">
            <a:spAutoFit/>
          </a:bodyPr>
          <a:lstStyle/>
          <a:p>
            <a:pPr algn="l">
              <a:defRPr sz="1750" b="0" i="0">
                <a:solidFill>
                  <a:srgbClr val="454240"/>
                </a:solidFill>
                <a:latin typeface="DM Sans"/>
              </a:defRPr>
            </a:pPr>
            <a:r>
              <a:t>Кейбір заманауи қосымшалар Windows және Web GUI элементтерін біріктіріп, қолданушыларға екі әлемнің де артықшылықтарын пайдалануға мүмкіндік береді, бұл әрбір интерфейстің мүмкіндіктерін кеңейтеді.</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sp>
        <p:nvSpPr>
          <p:cNvPr id="2" name="TextBox 1"/>
          <p:cNvSpPr txBox="1"/>
          <p:nvPr/>
        </p:nvSpPr>
        <p:spPr>
          <a:xfrm>
            <a:off x="889000" y="977900"/>
            <a:ext cx="12700000" cy="762000"/>
          </a:xfrm>
          <a:prstGeom prst="rect">
            <a:avLst/>
          </a:prstGeom>
          <a:noFill/>
        </p:spPr>
        <p:txBody>
          <a:bodyPr wrap="square" anchor="t">
            <a:spAutoFit/>
          </a:bodyPr>
          <a:lstStyle/>
          <a:p>
            <a:pPr algn="l">
              <a:defRPr sz="4400" b="1" i="0">
                <a:solidFill>
                  <a:srgbClr val="5C4E3D"/>
                </a:solidFill>
                <a:latin typeface="Libre Baskerville"/>
              </a:defRPr>
            </a:pPr>
            <a:r>
              <a:t>GUI артықшылықтары</a:t>
            </a:r>
          </a:p>
        </p:txBody>
      </p:sp>
      <p:sp>
        <p:nvSpPr>
          <p:cNvPr id="3" name="Rounded Rectangle 2"/>
          <p:cNvSpPr/>
          <p:nvPr/>
        </p:nvSpPr>
        <p:spPr>
          <a:xfrm>
            <a:off x="1079500" y="4502150"/>
            <a:ext cx="129921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46550" y="4038600"/>
            <a:ext cx="12700" cy="3175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34250" y="4660900"/>
            <a:ext cx="12700" cy="3175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509250" y="4038600"/>
            <a:ext cx="12700" cy="3175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937000" y="4292600"/>
            <a:ext cx="431800" cy="431800"/>
          </a:xfrm>
          <a:prstGeom prst="roundRect">
            <a:avLst>
              <a:gd name="adj" fmla="val 5000"/>
            </a:avLst>
          </a:prstGeom>
          <a:solidFill>
            <a:srgbClr val="F7EDD4"/>
          </a:solidFill>
          <a:ln w="12700">
            <a:solidFill>
              <a:srgbClr val="F7E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24700" y="4292600"/>
            <a:ext cx="431800" cy="431800"/>
          </a:xfrm>
          <a:prstGeom prst="roundRect">
            <a:avLst>
              <a:gd name="adj" fmla="val 5000"/>
            </a:avLst>
          </a:prstGeom>
          <a:solidFill>
            <a:srgbClr val="F7EDD4"/>
          </a:solidFill>
          <a:ln w="12700">
            <a:solidFill>
              <a:srgbClr val="F7E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299700" y="4292600"/>
            <a:ext cx="431800" cy="431800"/>
          </a:xfrm>
          <a:prstGeom prst="roundRect">
            <a:avLst>
              <a:gd name="adj" fmla="val 5000"/>
            </a:avLst>
          </a:prstGeom>
          <a:solidFill>
            <a:srgbClr val="F7EDD4"/>
          </a:solidFill>
          <a:ln w="12700">
            <a:solidFill>
              <a:srgbClr val="F7E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1400" y="2095500"/>
            <a:ext cx="6083300" cy="431800"/>
          </a:xfrm>
          <a:prstGeom prst="rect">
            <a:avLst/>
          </a:prstGeom>
          <a:noFill/>
        </p:spPr>
        <p:txBody>
          <a:bodyPr wrap="square" anchor="t">
            <a:spAutoFit/>
          </a:bodyPr>
          <a:lstStyle/>
          <a:p>
            <a:pPr algn="ctr">
              <a:defRPr sz="2200" b="1" i="0">
                <a:solidFill>
                  <a:srgbClr val="454240"/>
                </a:solidFill>
                <a:latin typeface="Libre Baskerville"/>
              </a:defRPr>
            </a:pPr>
            <a:r>
              <a:t>Қарапайымдылық</a:t>
            </a:r>
          </a:p>
        </p:txBody>
      </p:sp>
      <p:sp>
        <p:nvSpPr>
          <p:cNvPr id="11" name="TextBox 10"/>
          <p:cNvSpPr txBox="1"/>
          <p:nvPr/>
        </p:nvSpPr>
        <p:spPr>
          <a:xfrm>
            <a:off x="1041400" y="2730500"/>
            <a:ext cx="6083300" cy="1143000"/>
          </a:xfrm>
          <a:prstGeom prst="rect">
            <a:avLst/>
          </a:prstGeom>
          <a:noFill/>
        </p:spPr>
        <p:txBody>
          <a:bodyPr wrap="square" anchor="t">
            <a:spAutoFit/>
          </a:bodyPr>
          <a:lstStyle/>
          <a:p>
            <a:pPr algn="ctr">
              <a:defRPr sz="1750" b="0" i="0">
                <a:solidFill>
                  <a:srgbClr val="454240"/>
                </a:solidFill>
                <a:latin typeface="DM Sans"/>
              </a:defRPr>
            </a:pPr>
            <a:r>
              <a:t>GUI қолданушыларға бағдарламаларды интуитивті түсінуге және оңай пайдалануға көмектесіп, оқу қиындығын айтарлықтай азайтады.</a:t>
            </a:r>
          </a:p>
        </p:txBody>
      </p:sp>
      <p:pic>
        <p:nvPicPr>
          <p:cNvPr id="12" name="Picture 11" descr="image.png"/>
          <p:cNvPicPr>
            <a:picLocks noChangeAspect="1"/>
          </p:cNvPicPr>
          <p:nvPr/>
        </p:nvPicPr>
        <p:blipFill>
          <a:blip r:embed="rId2"/>
          <a:stretch>
            <a:fillRect/>
          </a:stretch>
        </p:blipFill>
        <p:spPr>
          <a:xfrm>
            <a:off x="4025900" y="4381500"/>
            <a:ext cx="254000" cy="254000"/>
          </a:xfrm>
          <a:prstGeom prst="rect">
            <a:avLst/>
          </a:prstGeom>
        </p:spPr>
      </p:pic>
      <p:sp>
        <p:nvSpPr>
          <p:cNvPr id="13" name="TextBox 12"/>
          <p:cNvSpPr txBox="1"/>
          <p:nvPr/>
        </p:nvSpPr>
        <p:spPr>
          <a:xfrm>
            <a:off x="4267200" y="5207000"/>
            <a:ext cx="6083300" cy="431800"/>
          </a:xfrm>
          <a:prstGeom prst="rect">
            <a:avLst/>
          </a:prstGeom>
          <a:noFill/>
        </p:spPr>
        <p:txBody>
          <a:bodyPr wrap="square" anchor="t">
            <a:spAutoFit/>
          </a:bodyPr>
          <a:lstStyle/>
          <a:p>
            <a:pPr algn="ctr">
              <a:defRPr sz="2200" b="1" i="0">
                <a:solidFill>
                  <a:srgbClr val="454240"/>
                </a:solidFill>
                <a:latin typeface="Libre Baskerville"/>
              </a:defRPr>
            </a:pPr>
            <a:r>
              <a:t>Тиімділік</a:t>
            </a:r>
          </a:p>
        </p:txBody>
      </p:sp>
      <p:sp>
        <p:nvSpPr>
          <p:cNvPr id="14" name="TextBox 13"/>
          <p:cNvSpPr txBox="1"/>
          <p:nvPr/>
        </p:nvSpPr>
        <p:spPr>
          <a:xfrm>
            <a:off x="4267200" y="5727700"/>
            <a:ext cx="6083300" cy="1143000"/>
          </a:xfrm>
          <a:prstGeom prst="rect">
            <a:avLst/>
          </a:prstGeom>
          <a:noFill/>
        </p:spPr>
        <p:txBody>
          <a:bodyPr wrap="square" anchor="t">
            <a:spAutoFit/>
          </a:bodyPr>
          <a:lstStyle/>
          <a:p>
            <a:pPr algn="ctr">
              <a:defRPr sz="1750" b="0" i="0">
                <a:solidFill>
                  <a:srgbClr val="454240"/>
                </a:solidFill>
                <a:latin typeface="DM Sans"/>
              </a:defRPr>
            </a:pPr>
            <a:r>
              <a:t>Визуалды элементтер арқылы операцияларды жылдам орындауға мүмкіндік береді, бұл жұмыс тиімділігін арттырады.</a:t>
            </a:r>
          </a:p>
        </p:txBody>
      </p:sp>
      <p:pic>
        <p:nvPicPr>
          <p:cNvPr id="15" name="Picture 14" descr="image.png"/>
          <p:cNvPicPr>
            <a:picLocks noChangeAspect="1"/>
          </p:cNvPicPr>
          <p:nvPr/>
        </p:nvPicPr>
        <p:blipFill>
          <a:blip r:embed="rId3"/>
          <a:stretch>
            <a:fillRect/>
          </a:stretch>
        </p:blipFill>
        <p:spPr>
          <a:xfrm>
            <a:off x="7213600" y="4381500"/>
            <a:ext cx="254000" cy="254000"/>
          </a:xfrm>
          <a:prstGeom prst="rect">
            <a:avLst/>
          </a:prstGeom>
        </p:spPr>
      </p:pic>
      <p:sp>
        <p:nvSpPr>
          <p:cNvPr id="16" name="TextBox 15"/>
          <p:cNvSpPr txBox="1"/>
          <p:nvPr/>
        </p:nvSpPr>
        <p:spPr>
          <a:xfrm>
            <a:off x="7505700" y="2120900"/>
            <a:ext cx="6083300" cy="431800"/>
          </a:xfrm>
          <a:prstGeom prst="rect">
            <a:avLst/>
          </a:prstGeom>
          <a:noFill/>
        </p:spPr>
        <p:txBody>
          <a:bodyPr wrap="square" anchor="t">
            <a:spAutoFit/>
          </a:bodyPr>
          <a:lstStyle/>
          <a:p>
            <a:pPr algn="ctr">
              <a:defRPr sz="2200" b="1" i="0">
                <a:solidFill>
                  <a:srgbClr val="454240"/>
                </a:solidFill>
                <a:latin typeface="Libre Baskerville"/>
              </a:defRPr>
            </a:pPr>
            <a:r>
              <a:t>Қолжетімділік</a:t>
            </a:r>
          </a:p>
        </p:txBody>
      </p:sp>
      <p:sp>
        <p:nvSpPr>
          <p:cNvPr id="17" name="TextBox 16"/>
          <p:cNvSpPr txBox="1"/>
          <p:nvPr/>
        </p:nvSpPr>
        <p:spPr>
          <a:xfrm>
            <a:off x="7505700" y="2730500"/>
            <a:ext cx="6083300" cy="1143000"/>
          </a:xfrm>
          <a:prstGeom prst="rect">
            <a:avLst/>
          </a:prstGeom>
          <a:noFill/>
        </p:spPr>
        <p:txBody>
          <a:bodyPr wrap="square" anchor="t">
            <a:spAutoFit/>
          </a:bodyPr>
          <a:lstStyle/>
          <a:p>
            <a:pPr algn="ctr">
              <a:defRPr sz="1750" b="0" i="0">
                <a:solidFill>
                  <a:srgbClr val="454240"/>
                </a:solidFill>
                <a:latin typeface="DM Sans"/>
              </a:defRPr>
            </a:pPr>
            <a:r>
              <a:t>Кез келген жастағы және біліктілік деңгейіндегі адамдарға еш қиындықсыз GUI-ді пайдалануға мүмкіндік береді.</a:t>
            </a:r>
          </a:p>
        </p:txBody>
      </p:sp>
      <p:pic>
        <p:nvPicPr>
          <p:cNvPr id="18" name="Picture 17" descr="image.png"/>
          <p:cNvPicPr>
            <a:picLocks noChangeAspect="1"/>
          </p:cNvPicPr>
          <p:nvPr/>
        </p:nvPicPr>
        <p:blipFill>
          <a:blip r:embed="rId4"/>
          <a:stretch>
            <a:fillRect/>
          </a:stretch>
        </p:blipFill>
        <p:spPr>
          <a:xfrm>
            <a:off x="10388600" y="4381500"/>
            <a:ext cx="254000" cy="254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762000" y="3429000"/>
            <a:ext cx="13106400" cy="1270000"/>
          </a:xfrm>
          <a:prstGeom prst="rect">
            <a:avLst/>
          </a:prstGeom>
          <a:noFill/>
        </p:spPr>
        <p:txBody>
          <a:bodyPr wrap="square" anchor="b">
            <a:spAutoFit/>
          </a:bodyPr>
          <a:lstStyle/>
          <a:p>
            <a:pPr algn="l">
              <a:defRPr sz="4400" b="1" i="0">
                <a:solidFill>
                  <a:srgbClr val="5C4E3D"/>
                </a:solidFill>
                <a:latin typeface="Libre Baskerville"/>
              </a:defRPr>
            </a:pPr>
            <a:r>
              <a:t>GUI кемшіліктері</a:t>
            </a:r>
          </a:p>
        </p:txBody>
      </p:sp>
      <p:sp>
        <p:nvSpPr>
          <p:cNvPr id="4" name="Rounded Rectangle 3"/>
          <p:cNvSpPr/>
          <p:nvPr/>
        </p:nvSpPr>
        <p:spPr>
          <a:xfrm>
            <a:off x="762000" y="5080000"/>
            <a:ext cx="64262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42200" y="5080000"/>
            <a:ext cx="64262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5334000"/>
            <a:ext cx="6299200" cy="381000"/>
          </a:xfrm>
          <a:prstGeom prst="rect">
            <a:avLst/>
          </a:prstGeom>
          <a:noFill/>
        </p:spPr>
        <p:txBody>
          <a:bodyPr wrap="square" anchor="t">
            <a:spAutoFit/>
          </a:bodyPr>
          <a:lstStyle/>
          <a:p>
            <a:pPr algn="l">
              <a:defRPr sz="2200" b="1" i="0">
                <a:solidFill>
                  <a:srgbClr val="454240"/>
                </a:solidFill>
                <a:latin typeface="Libre Baskerville"/>
              </a:defRPr>
            </a:pPr>
            <a:r>
              <a:t>Ресурстар қажеттілігі</a:t>
            </a:r>
          </a:p>
        </p:txBody>
      </p:sp>
      <p:sp>
        <p:nvSpPr>
          <p:cNvPr id="7" name="TextBox 6"/>
          <p:cNvSpPr txBox="1"/>
          <p:nvPr/>
        </p:nvSpPr>
        <p:spPr>
          <a:xfrm>
            <a:off x="889000" y="5842000"/>
            <a:ext cx="6299200" cy="1143000"/>
          </a:xfrm>
          <a:prstGeom prst="rect">
            <a:avLst/>
          </a:prstGeom>
          <a:noFill/>
        </p:spPr>
        <p:txBody>
          <a:bodyPr wrap="square" anchor="t">
            <a:spAutoFit/>
          </a:bodyPr>
          <a:lstStyle/>
          <a:p>
            <a:pPr algn="l">
              <a:defRPr sz="1750" b="0" i="0">
                <a:solidFill>
                  <a:srgbClr val="454240"/>
                </a:solidFill>
                <a:latin typeface="DM Sans"/>
              </a:defRPr>
            </a:pPr>
            <a:r>
              <a:t>GUI элементтерін көрсету және басқару үшін көбінесе көбірек жүйелік ресурстар, соның ішінде процессор қуаты мен жады қажет болады, бұл ескі немесе әлсіз құрылғыларда жұмысты баяулатуы мүмкін.</a:t>
            </a:r>
          </a:p>
        </p:txBody>
      </p:sp>
      <p:sp>
        <p:nvSpPr>
          <p:cNvPr id="8" name="TextBox 7"/>
          <p:cNvSpPr txBox="1"/>
          <p:nvPr/>
        </p:nvSpPr>
        <p:spPr>
          <a:xfrm>
            <a:off x="7569200" y="5334000"/>
            <a:ext cx="6299200" cy="381000"/>
          </a:xfrm>
          <a:prstGeom prst="rect">
            <a:avLst/>
          </a:prstGeom>
          <a:noFill/>
        </p:spPr>
        <p:txBody>
          <a:bodyPr wrap="square" anchor="t">
            <a:spAutoFit/>
          </a:bodyPr>
          <a:lstStyle/>
          <a:p>
            <a:pPr algn="l">
              <a:defRPr sz="2200" b="1" i="0">
                <a:solidFill>
                  <a:srgbClr val="454240"/>
                </a:solidFill>
                <a:latin typeface="Libre Baskerville"/>
              </a:defRPr>
            </a:pPr>
            <a:r>
              <a:t>Күрделі операциялар</a:t>
            </a:r>
          </a:p>
        </p:txBody>
      </p:sp>
      <p:sp>
        <p:nvSpPr>
          <p:cNvPr id="9" name="TextBox 8"/>
          <p:cNvSpPr txBox="1"/>
          <p:nvPr/>
        </p:nvSpPr>
        <p:spPr>
          <a:xfrm>
            <a:off x="7569200" y="5842000"/>
            <a:ext cx="6299200" cy="1143000"/>
          </a:xfrm>
          <a:prstGeom prst="rect">
            <a:avLst/>
          </a:prstGeom>
          <a:noFill/>
        </p:spPr>
        <p:txBody>
          <a:bodyPr wrap="square" anchor="t">
            <a:spAutoFit/>
          </a:bodyPr>
          <a:lstStyle/>
          <a:p>
            <a:pPr algn="l">
              <a:defRPr sz="1750" b="0" i="0">
                <a:solidFill>
                  <a:srgbClr val="454240"/>
                </a:solidFill>
                <a:latin typeface="DM Sans"/>
              </a:defRPr>
            </a:pPr>
            <a:r>
              <a:t>Кейбір күрделі немесе сирек қолданылатын операцияларды орындау үшін GUI, әсіресе, әзірлеушілер мен тәжірибелі пайдаланушылар үшін, жылдам және нақты командаларға негізделген тексттік интерфейске қарағанда баяу болуы мүмкін.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sp>
        <p:nvSpPr>
          <p:cNvPr id="2" name="TextBox 1"/>
          <p:cNvSpPr txBox="1"/>
          <p:nvPr/>
        </p:nvSpPr>
        <p:spPr>
          <a:xfrm>
            <a:off x="762000" y="1270000"/>
            <a:ext cx="12700000" cy="1143000"/>
          </a:xfrm>
          <a:prstGeom prst="rect">
            <a:avLst/>
          </a:prstGeom>
          <a:noFill/>
        </p:spPr>
        <p:txBody>
          <a:bodyPr wrap="square" anchor="t">
            <a:spAutoFit/>
          </a:bodyPr>
          <a:lstStyle/>
          <a:p>
            <a:pPr algn="l">
              <a:defRPr sz="4400" b="1" i="0">
                <a:solidFill>
                  <a:srgbClr val="5C4E3D"/>
                </a:solidFill>
                <a:latin typeface="Libre Baskerville"/>
              </a:defRPr>
            </a:pPr>
            <a:r>
              <a:t>GUI кітапханалары</a:t>
            </a:r>
          </a:p>
        </p:txBody>
      </p:sp>
      <p:pic>
        <p:nvPicPr>
          <p:cNvPr id="3" name="Picture 2" descr="image.png"/>
          <p:cNvPicPr>
            <a:picLocks noChangeAspect="1"/>
          </p:cNvPicPr>
          <p:nvPr/>
        </p:nvPicPr>
        <p:blipFill>
          <a:blip r:embed="rId2"/>
          <a:stretch>
            <a:fillRect/>
          </a:stretch>
        </p:blipFill>
        <p:spPr>
          <a:xfrm>
            <a:off x="5156200" y="2540000"/>
            <a:ext cx="4318000" cy="4318000"/>
          </a:xfrm>
          <a:prstGeom prst="rect">
            <a:avLst/>
          </a:prstGeom>
        </p:spPr>
      </p:pic>
      <p:pic>
        <p:nvPicPr>
          <p:cNvPr id="4" name="Picture 3" descr="image.png"/>
          <p:cNvPicPr>
            <a:picLocks noChangeAspect="1"/>
          </p:cNvPicPr>
          <p:nvPr/>
        </p:nvPicPr>
        <p:blipFill>
          <a:blip r:embed="rId3"/>
          <a:stretch>
            <a:fillRect/>
          </a:stretch>
        </p:blipFill>
        <p:spPr>
          <a:xfrm>
            <a:off x="5156200" y="2540000"/>
            <a:ext cx="4318000" cy="4318000"/>
          </a:xfrm>
          <a:prstGeom prst="rect">
            <a:avLst/>
          </a:prstGeom>
        </p:spPr>
      </p:pic>
      <p:pic>
        <p:nvPicPr>
          <p:cNvPr id="5" name="Picture 4" descr="image.png"/>
          <p:cNvPicPr>
            <a:picLocks noChangeAspect="1"/>
          </p:cNvPicPr>
          <p:nvPr/>
        </p:nvPicPr>
        <p:blipFill>
          <a:blip r:embed="rId4"/>
          <a:stretch>
            <a:fillRect/>
          </a:stretch>
        </p:blipFill>
        <p:spPr>
          <a:xfrm>
            <a:off x="5156200" y="2540000"/>
            <a:ext cx="4318000" cy="4318000"/>
          </a:xfrm>
          <a:prstGeom prst="rect">
            <a:avLst/>
          </a:prstGeom>
        </p:spPr>
      </p:pic>
      <p:sp>
        <p:nvSpPr>
          <p:cNvPr id="6" name="TextBox 5"/>
          <p:cNvSpPr txBox="1"/>
          <p:nvPr/>
        </p:nvSpPr>
        <p:spPr>
          <a:xfrm>
            <a:off x="762000" y="3556000"/>
            <a:ext cx="4064000" cy="381000"/>
          </a:xfrm>
          <a:prstGeom prst="rect">
            <a:avLst/>
          </a:prstGeom>
          <a:noFill/>
        </p:spPr>
        <p:txBody>
          <a:bodyPr wrap="square" anchor="t">
            <a:spAutoFit/>
          </a:bodyPr>
          <a:lstStyle/>
          <a:p>
            <a:pPr algn="r">
              <a:defRPr sz="2200" b="1" i="0">
                <a:solidFill>
                  <a:srgbClr val="454240"/>
                </a:solidFill>
                <a:latin typeface="Libre Baskerville"/>
              </a:defRPr>
            </a:pPr>
            <a:r>
              <a:t>Дайын код</a:t>
            </a:r>
          </a:p>
        </p:txBody>
      </p:sp>
      <p:sp>
        <p:nvSpPr>
          <p:cNvPr id="7" name="TextBox 6"/>
          <p:cNvSpPr txBox="1"/>
          <p:nvPr/>
        </p:nvSpPr>
        <p:spPr>
          <a:xfrm>
            <a:off x="1016000" y="4000500"/>
            <a:ext cx="3810000" cy="2540000"/>
          </a:xfrm>
          <a:prstGeom prst="rect">
            <a:avLst/>
          </a:prstGeom>
          <a:noFill/>
        </p:spPr>
        <p:txBody>
          <a:bodyPr wrap="square" anchor="t">
            <a:spAutoFit/>
          </a:bodyPr>
          <a:lstStyle/>
          <a:p>
            <a:pPr algn="r">
              <a:defRPr sz="1750" b="0" i="0">
                <a:solidFill>
                  <a:srgbClr val="454240"/>
                </a:solidFill>
                <a:latin typeface="DM Sans"/>
              </a:defRPr>
            </a:pPr>
            <a:r>
              <a:t>GUI кітапханалары – бұл бағдарламалаушыларға GUI элементтерін жылдам және тиімді жасауға көмектесетін дайын кодтық модульдер мен функциялар жиынтығы.</a:t>
            </a:r>
          </a:p>
        </p:txBody>
      </p:sp>
      <p:pic>
        <p:nvPicPr>
          <p:cNvPr id="8" name="Picture 7" descr="image.png"/>
          <p:cNvPicPr>
            <a:picLocks noChangeAspect="1"/>
          </p:cNvPicPr>
          <p:nvPr/>
        </p:nvPicPr>
        <p:blipFill>
          <a:blip r:embed="rId5"/>
          <a:stretch>
            <a:fillRect/>
          </a:stretch>
        </p:blipFill>
        <p:spPr>
          <a:xfrm>
            <a:off x="5651500" y="4508500"/>
            <a:ext cx="355600" cy="355600"/>
          </a:xfrm>
          <a:prstGeom prst="rect">
            <a:avLst/>
          </a:prstGeom>
        </p:spPr>
      </p:pic>
      <p:sp>
        <p:nvSpPr>
          <p:cNvPr id="9" name="TextBox 8"/>
          <p:cNvSpPr txBox="1"/>
          <p:nvPr/>
        </p:nvSpPr>
        <p:spPr>
          <a:xfrm>
            <a:off x="9804400" y="2794000"/>
            <a:ext cx="4445000" cy="381000"/>
          </a:xfrm>
          <a:prstGeom prst="rect">
            <a:avLst/>
          </a:prstGeom>
          <a:noFill/>
        </p:spPr>
        <p:txBody>
          <a:bodyPr wrap="square" anchor="t">
            <a:spAutoFit/>
          </a:bodyPr>
          <a:lstStyle/>
          <a:p>
            <a:pPr algn="l">
              <a:defRPr sz="2200" b="1" i="0">
                <a:solidFill>
                  <a:srgbClr val="454240"/>
                </a:solidFill>
                <a:latin typeface="Libre Baskerville"/>
              </a:defRPr>
            </a:pPr>
            <a:r>
              <a:t>Танымал кітапханалар</a:t>
            </a:r>
          </a:p>
        </p:txBody>
      </p:sp>
      <p:sp>
        <p:nvSpPr>
          <p:cNvPr id="10" name="TextBox 9"/>
          <p:cNvSpPr txBox="1"/>
          <p:nvPr/>
        </p:nvSpPr>
        <p:spPr>
          <a:xfrm>
            <a:off x="9804400" y="3238500"/>
            <a:ext cx="3810000" cy="1143000"/>
          </a:xfrm>
          <a:prstGeom prst="rect">
            <a:avLst/>
          </a:prstGeom>
          <a:noFill/>
        </p:spPr>
        <p:txBody>
          <a:bodyPr wrap="square" anchor="t">
            <a:spAutoFit/>
          </a:bodyPr>
          <a:lstStyle/>
          <a:p>
            <a:pPr algn="l">
              <a:defRPr sz="1750" b="0" i="0">
                <a:solidFill>
                  <a:srgbClr val="454240"/>
                </a:solidFill>
                <a:latin typeface="DM Sans"/>
              </a:defRPr>
            </a:pPr>
            <a:r>
              <a:t>Мысалдар ретінде Qt, GTK, Swing, .NET Framework WinForms сияқты кітапханаларды атауға болады, олар әртүрлі платформалар мен тілдерде қолданылады.</a:t>
            </a:r>
          </a:p>
        </p:txBody>
      </p:sp>
      <p:pic>
        <p:nvPicPr>
          <p:cNvPr id="11" name="Picture 10" descr="image.png"/>
          <p:cNvPicPr>
            <a:picLocks noChangeAspect="1"/>
          </p:cNvPicPr>
          <p:nvPr/>
        </p:nvPicPr>
        <p:blipFill>
          <a:blip r:embed="rId6"/>
          <a:stretch>
            <a:fillRect/>
          </a:stretch>
        </p:blipFill>
        <p:spPr>
          <a:xfrm>
            <a:off x="7975600" y="3302000"/>
            <a:ext cx="355600" cy="355600"/>
          </a:xfrm>
          <a:prstGeom prst="rect">
            <a:avLst/>
          </a:prstGeom>
        </p:spPr>
      </p:pic>
      <p:sp>
        <p:nvSpPr>
          <p:cNvPr id="12" name="TextBox 11"/>
          <p:cNvSpPr txBox="1"/>
          <p:nvPr/>
        </p:nvSpPr>
        <p:spPr>
          <a:xfrm>
            <a:off x="9804400" y="4953000"/>
            <a:ext cx="4445000" cy="381000"/>
          </a:xfrm>
          <a:prstGeom prst="rect">
            <a:avLst/>
          </a:prstGeom>
          <a:noFill/>
        </p:spPr>
        <p:txBody>
          <a:bodyPr wrap="square" anchor="t">
            <a:spAutoFit/>
          </a:bodyPr>
          <a:lstStyle/>
          <a:p>
            <a:pPr algn="l">
              <a:defRPr sz="2200" b="1" i="0">
                <a:solidFill>
                  <a:srgbClr val="454240"/>
                </a:solidFill>
                <a:latin typeface="Libre Baskerville"/>
              </a:defRPr>
            </a:pPr>
            <a:r>
              <a:t>Кросс-платформалылық</a:t>
            </a:r>
          </a:p>
        </p:txBody>
      </p:sp>
      <p:sp>
        <p:nvSpPr>
          <p:cNvPr id="13" name="TextBox 12"/>
          <p:cNvSpPr txBox="1"/>
          <p:nvPr/>
        </p:nvSpPr>
        <p:spPr>
          <a:xfrm>
            <a:off x="9804400" y="5397500"/>
            <a:ext cx="3810000" cy="1143000"/>
          </a:xfrm>
          <a:prstGeom prst="rect">
            <a:avLst/>
          </a:prstGeom>
          <a:noFill/>
        </p:spPr>
        <p:txBody>
          <a:bodyPr wrap="square" anchor="t">
            <a:spAutoFit/>
          </a:bodyPr>
          <a:lstStyle/>
          <a:p>
            <a:pPr algn="l">
              <a:defRPr sz="1750" b="0" i="0">
                <a:solidFill>
                  <a:srgbClr val="454240"/>
                </a:solidFill>
                <a:latin typeface="DM Sans"/>
              </a:defRPr>
            </a:pPr>
            <a:r>
              <a:t>Бұл кітапханалар әртүрлі операциялық жүйелерде, соның ішінде Windows, macOS және Linux-те жұмыс істей алатын бағдарламаларды жасауға мүмкіндік береді.</a:t>
            </a:r>
          </a:p>
        </p:txBody>
      </p:sp>
      <p:pic>
        <p:nvPicPr>
          <p:cNvPr id="14" name="Picture 13" descr="image.png"/>
          <p:cNvPicPr>
            <a:picLocks noChangeAspect="1"/>
          </p:cNvPicPr>
          <p:nvPr/>
        </p:nvPicPr>
        <p:blipFill>
          <a:blip r:embed="rId7"/>
          <a:stretch>
            <a:fillRect/>
          </a:stretch>
        </p:blipFill>
        <p:spPr>
          <a:xfrm>
            <a:off x="7874000" y="5816600"/>
            <a:ext cx="355600" cy="355600"/>
          </a:xfrm>
          <a:prstGeom prst="rect">
            <a:avLst/>
          </a:prstGeom>
        </p:spPr>
      </p:pic>
      <p:sp>
        <p:nvSpPr>
          <p:cNvPr id="15" name="TextBox 14"/>
          <p:cNvSpPr txBox="1"/>
          <p:nvPr/>
        </p:nvSpPr>
        <p:spPr>
          <a:xfrm>
            <a:off x="762000" y="7239000"/>
            <a:ext cx="12700000" cy="762000"/>
          </a:xfrm>
          <a:prstGeom prst="rect">
            <a:avLst/>
          </a:prstGeom>
          <a:noFill/>
        </p:spPr>
        <p:txBody>
          <a:bodyPr wrap="square" anchor="t">
            <a:spAutoFit/>
          </a:bodyPr>
          <a:lstStyle/>
          <a:p>
            <a:pPr algn="l">
              <a:defRPr sz="1750" b="0" i="0">
                <a:solidFill>
                  <a:srgbClr val="454240"/>
                </a:solidFill>
                <a:latin typeface="DM Sans"/>
              </a:defRPr>
            </a:pPr>
            <a:r>
              <a:t>GUI кітапханаларын пайдалану әзірлеу уақытын қысқартады және интерфейстің біркелкілігі мен сапасын қамтамасыз етеді.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762000" y="3556000"/>
            <a:ext cx="12700000" cy="1270000"/>
          </a:xfrm>
          <a:prstGeom prst="rect">
            <a:avLst/>
          </a:prstGeom>
          <a:noFill/>
        </p:spPr>
        <p:txBody>
          <a:bodyPr wrap="square" anchor="t">
            <a:spAutoFit/>
          </a:bodyPr>
          <a:lstStyle/>
          <a:p>
            <a:pPr algn="l">
              <a:defRPr sz="4400" b="1" i="0">
                <a:solidFill>
                  <a:srgbClr val="5C4E3D"/>
                </a:solidFill>
                <a:latin typeface="Libre Baskerville"/>
              </a:defRPr>
            </a:pPr>
            <a:r>
              <a:t>Qt кітапханасы</a:t>
            </a:r>
          </a:p>
        </p:txBody>
      </p:sp>
      <p:sp>
        <p:nvSpPr>
          <p:cNvPr id="4" name="Rounded Rectangle 3"/>
          <p:cNvSpPr/>
          <p:nvPr/>
        </p:nvSpPr>
        <p:spPr>
          <a:xfrm>
            <a:off x="1073150" y="4508500"/>
            <a:ext cx="12700" cy="33020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89000" y="47625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45085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1</a:t>
            </a:r>
          </a:p>
        </p:txBody>
      </p:sp>
      <p:sp>
        <p:nvSpPr>
          <p:cNvPr id="7" name="Rounded Rectangle 6"/>
          <p:cNvSpPr/>
          <p:nvPr/>
        </p:nvSpPr>
        <p:spPr>
          <a:xfrm>
            <a:off x="1270000" y="49466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9000" y="5969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9000" y="57023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2</a:t>
            </a:r>
          </a:p>
        </p:txBody>
      </p:sp>
      <p:sp>
        <p:nvSpPr>
          <p:cNvPr id="10" name="Rounded Rectangle 9"/>
          <p:cNvSpPr/>
          <p:nvPr/>
        </p:nvSpPr>
        <p:spPr>
          <a:xfrm>
            <a:off x="1270000" y="61531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00" y="7239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000" y="69723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3</a:t>
            </a:r>
          </a:p>
        </p:txBody>
      </p:sp>
      <p:sp>
        <p:nvSpPr>
          <p:cNvPr id="13" name="Rounded Rectangle 12"/>
          <p:cNvSpPr/>
          <p:nvPr/>
        </p:nvSpPr>
        <p:spPr>
          <a:xfrm>
            <a:off x="1270000" y="74231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05000" y="4508500"/>
            <a:ext cx="12700000" cy="381000"/>
          </a:xfrm>
          <a:prstGeom prst="rect">
            <a:avLst/>
          </a:prstGeom>
          <a:noFill/>
        </p:spPr>
        <p:txBody>
          <a:bodyPr wrap="square" anchor="t">
            <a:spAutoFit/>
          </a:bodyPr>
          <a:lstStyle/>
          <a:p>
            <a:pPr algn="l">
              <a:defRPr sz="2200" b="1" i="0">
                <a:solidFill>
                  <a:srgbClr val="454240"/>
                </a:solidFill>
                <a:latin typeface="Libre Baskerville"/>
              </a:defRPr>
            </a:pPr>
            <a:r>
              <a:t>Кітапхана сипаттамасы</a:t>
            </a:r>
          </a:p>
        </p:txBody>
      </p:sp>
      <p:sp>
        <p:nvSpPr>
          <p:cNvPr id="15" name="TextBox 14"/>
          <p:cNvSpPr txBox="1"/>
          <p:nvPr/>
        </p:nvSpPr>
        <p:spPr>
          <a:xfrm>
            <a:off x="1905000" y="4889500"/>
            <a:ext cx="12700000" cy="1143000"/>
          </a:xfrm>
          <a:prstGeom prst="rect">
            <a:avLst/>
          </a:prstGeom>
          <a:noFill/>
        </p:spPr>
        <p:txBody>
          <a:bodyPr wrap="square" anchor="t">
            <a:spAutoFit/>
          </a:bodyPr>
          <a:lstStyle/>
          <a:p>
            <a:pPr algn="l">
              <a:defRPr sz="1750" b="0" i="0">
                <a:solidFill>
                  <a:srgbClr val="454240"/>
                </a:solidFill>
                <a:latin typeface="DM Sans"/>
              </a:defRPr>
            </a:pPr>
            <a:r>
              <a:t>Qt – бұл кросс-платформалық GUI құруға арналған танымал және қуатты C++ кітапханасы, оның кең мүмкіндіктері бар.</a:t>
            </a:r>
          </a:p>
        </p:txBody>
      </p:sp>
      <p:sp>
        <p:nvSpPr>
          <p:cNvPr id="16" name="TextBox 15"/>
          <p:cNvSpPr txBox="1"/>
          <p:nvPr/>
        </p:nvSpPr>
        <p:spPr>
          <a:xfrm>
            <a:off x="1905000" y="5778500"/>
            <a:ext cx="12700000" cy="381000"/>
          </a:xfrm>
          <a:prstGeom prst="rect">
            <a:avLst/>
          </a:prstGeom>
          <a:noFill/>
        </p:spPr>
        <p:txBody>
          <a:bodyPr wrap="square" anchor="t">
            <a:spAutoFit/>
          </a:bodyPr>
          <a:lstStyle/>
          <a:p>
            <a:pPr algn="l">
              <a:defRPr sz="2200" b="1" i="0">
                <a:solidFill>
                  <a:srgbClr val="454240"/>
                </a:solidFill>
                <a:latin typeface="Libre Baskerville"/>
              </a:defRPr>
            </a:pPr>
            <a:r>
              <a:t>Әзірлеуші артықшылығы</a:t>
            </a:r>
          </a:p>
        </p:txBody>
      </p:sp>
      <p:sp>
        <p:nvSpPr>
          <p:cNvPr id="17" name="TextBox 16"/>
          <p:cNvSpPr txBox="1"/>
          <p:nvPr/>
        </p:nvSpPr>
        <p:spPr>
          <a:xfrm>
            <a:off x="1905000" y="6159500"/>
            <a:ext cx="12700000" cy="1143000"/>
          </a:xfrm>
          <a:prstGeom prst="rect">
            <a:avLst/>
          </a:prstGeom>
          <a:noFill/>
        </p:spPr>
        <p:txBody>
          <a:bodyPr wrap="square" anchor="t">
            <a:spAutoFit/>
          </a:bodyPr>
          <a:lstStyle/>
          <a:p>
            <a:pPr algn="l">
              <a:defRPr sz="1750" b="0" i="0">
                <a:solidFill>
                  <a:srgbClr val="454240"/>
                </a:solidFill>
                <a:latin typeface="DM Sans"/>
              </a:defRPr>
            </a:pPr>
            <a:r>
              <a:t>Ол әзірлеушілерге әдемі, заманауи және тиімді пайдаланушы интерфейстерін жасауға мүмкіндік береді.</a:t>
            </a:r>
          </a:p>
        </p:txBody>
      </p:sp>
      <p:sp>
        <p:nvSpPr>
          <p:cNvPr id="18" name="TextBox 17"/>
          <p:cNvSpPr txBox="1"/>
          <p:nvPr/>
        </p:nvSpPr>
        <p:spPr>
          <a:xfrm>
            <a:off x="1905000" y="7048500"/>
            <a:ext cx="12700000" cy="381000"/>
          </a:xfrm>
          <a:prstGeom prst="rect">
            <a:avLst/>
          </a:prstGeom>
          <a:noFill/>
        </p:spPr>
        <p:txBody>
          <a:bodyPr wrap="square" anchor="t">
            <a:spAutoFit/>
          </a:bodyPr>
          <a:lstStyle/>
          <a:p>
            <a:pPr algn="l">
              <a:defRPr sz="2200" b="1" i="0">
                <a:solidFill>
                  <a:srgbClr val="454240"/>
                </a:solidFill>
                <a:latin typeface="Libre Baskerville"/>
              </a:defRPr>
            </a:pPr>
            <a:r>
              <a:t>Платформалар қолдауы</a:t>
            </a:r>
          </a:p>
        </p:txBody>
      </p:sp>
      <p:sp>
        <p:nvSpPr>
          <p:cNvPr id="19" name="TextBox 18"/>
          <p:cNvSpPr txBox="1"/>
          <p:nvPr/>
        </p:nvSpPr>
        <p:spPr>
          <a:xfrm>
            <a:off x="1905000" y="7429500"/>
            <a:ext cx="12700000" cy="1143000"/>
          </a:xfrm>
          <a:prstGeom prst="rect">
            <a:avLst/>
          </a:prstGeom>
          <a:noFill/>
        </p:spPr>
        <p:txBody>
          <a:bodyPr wrap="square" anchor="t">
            <a:spAutoFit/>
          </a:bodyPr>
          <a:lstStyle/>
          <a:p>
            <a:pPr algn="l">
              <a:defRPr sz="1750" b="0" i="0">
                <a:solidFill>
                  <a:srgbClr val="454240"/>
                </a:solidFill>
                <a:latin typeface="DM Sans"/>
              </a:defRPr>
            </a:pPr>
            <a:r>
              <a:t>Qt Windows, macOS, Linux, Android және iOS сияқты көптеген операциялық жүйелер мен платформаларды толық қолдайды.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sp>
        <p:nvSpPr>
          <p:cNvPr id="2" name="TextBox 1"/>
          <p:cNvSpPr txBox="1"/>
          <p:nvPr/>
        </p:nvSpPr>
        <p:spPr>
          <a:xfrm>
            <a:off x="762000" y="1079500"/>
            <a:ext cx="12700000" cy="2120900"/>
          </a:xfrm>
          <a:prstGeom prst="rect">
            <a:avLst/>
          </a:prstGeom>
          <a:noFill/>
        </p:spPr>
        <p:txBody>
          <a:bodyPr wrap="square" anchor="t">
            <a:spAutoFit/>
          </a:bodyPr>
          <a:lstStyle/>
          <a:p>
            <a:pPr algn="l">
              <a:defRPr sz="4400" b="1" i="0">
                <a:solidFill>
                  <a:srgbClr val="5C4E3D"/>
                </a:solidFill>
                <a:latin typeface="Libre Baskerville"/>
              </a:defRPr>
            </a:pPr>
            <a:r>
              <a:t>GTK кітапханасы</a:t>
            </a:r>
          </a:p>
        </p:txBody>
      </p:sp>
      <p:sp>
        <p:nvSpPr>
          <p:cNvPr id="3" name="Rounded Rectangle 2"/>
          <p:cNvSpPr/>
          <p:nvPr/>
        </p:nvSpPr>
        <p:spPr>
          <a:xfrm>
            <a:off x="762000" y="2349500"/>
            <a:ext cx="2540000" cy="1270000"/>
          </a:xfrm>
          <a:prstGeom prst="roundRect">
            <a:avLst>
              <a:gd name="adj" fmla="val 1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92500" y="3613150"/>
            <a:ext cx="101600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5146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1</a:t>
            </a:r>
          </a:p>
        </p:txBody>
      </p:sp>
      <p:sp>
        <p:nvSpPr>
          <p:cNvPr id="6" name="TextBox 5"/>
          <p:cNvSpPr txBox="1"/>
          <p:nvPr/>
        </p:nvSpPr>
        <p:spPr>
          <a:xfrm>
            <a:off x="3556000" y="2514600"/>
            <a:ext cx="7543800" cy="1270000"/>
          </a:xfrm>
          <a:prstGeom prst="rect">
            <a:avLst/>
          </a:prstGeom>
          <a:noFill/>
        </p:spPr>
        <p:txBody>
          <a:bodyPr wrap="square" anchor="t">
            <a:spAutoFit/>
          </a:bodyPr>
          <a:lstStyle/>
          <a:p>
            <a:pPr algn="l">
              <a:defRPr sz="2200" b="1" i="0">
                <a:solidFill>
                  <a:srgbClr val="454240"/>
                </a:solidFill>
                <a:latin typeface="Libre Baskerville"/>
              </a:defRPr>
            </a:pPr>
            <a:r>
              <a:t>Негізгі мақсаты</a:t>
            </a:r>
          </a:p>
        </p:txBody>
      </p:sp>
      <p:sp>
        <p:nvSpPr>
          <p:cNvPr id="7" name="TextBox 6"/>
          <p:cNvSpPr txBox="1"/>
          <p:nvPr/>
        </p:nvSpPr>
        <p:spPr>
          <a:xfrm>
            <a:off x="3556000" y="2984500"/>
            <a:ext cx="9906000" cy="1143000"/>
          </a:xfrm>
          <a:prstGeom prst="rect">
            <a:avLst/>
          </a:prstGeom>
          <a:noFill/>
        </p:spPr>
        <p:txBody>
          <a:bodyPr wrap="square" anchor="t">
            <a:spAutoFit/>
          </a:bodyPr>
          <a:lstStyle/>
          <a:p>
            <a:pPr algn="l">
              <a:defRPr sz="1750" b="0" i="0">
                <a:solidFill>
                  <a:srgbClr val="454240"/>
                </a:solidFill>
                <a:latin typeface="DM Sans"/>
              </a:defRPr>
            </a:pPr>
            <a:r>
              <a:t>GTK (GIMP Toolkit) – бұл ашық бастапқы кодты қолдана отырып, GUI элементтерін жасауға арналған кітапхана, оның еркіндігі жоғары.</a:t>
            </a:r>
          </a:p>
        </p:txBody>
      </p:sp>
      <p:sp>
        <p:nvSpPr>
          <p:cNvPr id="8" name="Rounded Rectangle 7"/>
          <p:cNvSpPr/>
          <p:nvPr/>
        </p:nvSpPr>
        <p:spPr>
          <a:xfrm>
            <a:off x="762000" y="3746500"/>
            <a:ext cx="4445000" cy="1524000"/>
          </a:xfrm>
          <a:prstGeom prst="roundRect">
            <a:avLst>
              <a:gd name="adj" fmla="val 1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397500" y="5264150"/>
            <a:ext cx="82550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40386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2</a:t>
            </a:r>
          </a:p>
        </p:txBody>
      </p:sp>
      <p:sp>
        <p:nvSpPr>
          <p:cNvPr id="11" name="TextBox 10"/>
          <p:cNvSpPr txBox="1"/>
          <p:nvPr/>
        </p:nvSpPr>
        <p:spPr>
          <a:xfrm>
            <a:off x="5461000" y="3987800"/>
            <a:ext cx="7543800" cy="1270000"/>
          </a:xfrm>
          <a:prstGeom prst="rect">
            <a:avLst/>
          </a:prstGeom>
          <a:noFill/>
        </p:spPr>
        <p:txBody>
          <a:bodyPr wrap="square" anchor="t">
            <a:spAutoFit/>
          </a:bodyPr>
          <a:lstStyle/>
          <a:p>
            <a:pPr algn="l">
              <a:defRPr sz="2200" b="1" i="0">
                <a:solidFill>
                  <a:srgbClr val="454240"/>
                </a:solidFill>
                <a:latin typeface="Libre Baskerville"/>
              </a:defRPr>
            </a:pPr>
            <a:r>
              <a:t>Қолданылу аймағы</a:t>
            </a:r>
          </a:p>
        </p:txBody>
      </p:sp>
      <p:sp>
        <p:nvSpPr>
          <p:cNvPr id="12" name="TextBox 11"/>
          <p:cNvSpPr txBox="1"/>
          <p:nvPr/>
        </p:nvSpPr>
        <p:spPr>
          <a:xfrm>
            <a:off x="5461000" y="4381500"/>
            <a:ext cx="8001000" cy="1143000"/>
          </a:xfrm>
          <a:prstGeom prst="rect">
            <a:avLst/>
          </a:prstGeom>
          <a:noFill/>
        </p:spPr>
        <p:txBody>
          <a:bodyPr wrap="square" anchor="t">
            <a:spAutoFit/>
          </a:bodyPr>
          <a:lstStyle/>
          <a:p>
            <a:pPr algn="l">
              <a:defRPr sz="1750" b="0" i="0">
                <a:solidFill>
                  <a:srgbClr val="454240"/>
                </a:solidFill>
                <a:latin typeface="DM Sans"/>
              </a:defRPr>
            </a:pPr>
            <a:r>
              <a:t>Ол негізінен Linux операциялық жүйесінде кеңінен қолданылады, бірақ басқа платформаларда да жұмыс істей алады.</a:t>
            </a:r>
          </a:p>
        </p:txBody>
      </p:sp>
      <p:sp>
        <p:nvSpPr>
          <p:cNvPr id="13" name="Rounded Rectangle 12"/>
          <p:cNvSpPr/>
          <p:nvPr/>
        </p:nvSpPr>
        <p:spPr>
          <a:xfrm>
            <a:off x="762000" y="5397500"/>
            <a:ext cx="6350000" cy="1778000"/>
          </a:xfrm>
          <a:prstGeom prst="roundRect">
            <a:avLst>
              <a:gd name="adj" fmla="val 1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000" y="58166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3</a:t>
            </a:r>
          </a:p>
        </p:txBody>
      </p:sp>
      <p:sp>
        <p:nvSpPr>
          <p:cNvPr id="15" name="TextBox 14"/>
          <p:cNvSpPr txBox="1"/>
          <p:nvPr/>
        </p:nvSpPr>
        <p:spPr>
          <a:xfrm>
            <a:off x="7366000" y="5765800"/>
            <a:ext cx="7543800" cy="1270000"/>
          </a:xfrm>
          <a:prstGeom prst="rect">
            <a:avLst/>
          </a:prstGeom>
          <a:noFill/>
        </p:spPr>
        <p:txBody>
          <a:bodyPr wrap="square" anchor="t">
            <a:spAutoFit/>
          </a:bodyPr>
          <a:lstStyle/>
          <a:p>
            <a:pPr algn="l">
              <a:defRPr sz="2200" b="1" i="0">
                <a:solidFill>
                  <a:srgbClr val="454240"/>
                </a:solidFill>
                <a:latin typeface="Libre Baskerville"/>
              </a:defRPr>
            </a:pPr>
            <a:r>
              <a:t>Мысал</a:t>
            </a:r>
          </a:p>
        </p:txBody>
      </p:sp>
      <p:sp>
        <p:nvSpPr>
          <p:cNvPr id="16" name="TextBox 15"/>
          <p:cNvSpPr txBox="1"/>
          <p:nvPr/>
        </p:nvSpPr>
        <p:spPr>
          <a:xfrm>
            <a:off x="7366000" y="6159500"/>
            <a:ext cx="6096000" cy="1143000"/>
          </a:xfrm>
          <a:prstGeom prst="rect">
            <a:avLst/>
          </a:prstGeom>
          <a:noFill/>
        </p:spPr>
        <p:txBody>
          <a:bodyPr wrap="square" anchor="t">
            <a:spAutoFit/>
          </a:bodyPr>
          <a:lstStyle/>
          <a:p>
            <a:pPr algn="l">
              <a:defRPr sz="1750" b="0" i="0">
                <a:solidFill>
                  <a:srgbClr val="454240"/>
                </a:solidFill>
                <a:latin typeface="DM Sans"/>
              </a:defRPr>
            </a:pPr>
            <a:r>
              <a:t>GNOME жұмыс үстелінің ыңғайлы және визуалды тартымды интерфейсі GTK кітапханасы негізінде жасалған.</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1270000" y="3429000"/>
            <a:ext cx="11430000" cy="1270000"/>
          </a:xfrm>
          <a:prstGeom prst="rect">
            <a:avLst/>
          </a:prstGeom>
          <a:noFill/>
        </p:spPr>
        <p:txBody>
          <a:bodyPr wrap="square" anchor="b">
            <a:spAutoFit/>
          </a:bodyPr>
          <a:lstStyle/>
          <a:p>
            <a:pPr algn="l">
              <a:defRPr sz="4400" b="1" i="0">
                <a:solidFill>
                  <a:srgbClr val="5C4E3D"/>
                </a:solidFill>
                <a:latin typeface="Libre Baskerville"/>
              </a:defRPr>
            </a:pPr>
            <a:r>
              <a:t>Swing кітапханасы</a:t>
            </a:r>
          </a:p>
        </p:txBody>
      </p:sp>
      <p:sp>
        <p:nvSpPr>
          <p:cNvPr id="4" name="Rounded Rectangle 3"/>
          <p:cNvSpPr/>
          <p:nvPr/>
        </p:nvSpPr>
        <p:spPr>
          <a:xfrm>
            <a:off x="1270000" y="5080000"/>
            <a:ext cx="36576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8600" y="5080000"/>
            <a:ext cx="36576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347200" y="5080000"/>
            <a:ext cx="36576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97000" y="5143500"/>
            <a:ext cx="3530600" cy="635000"/>
          </a:xfrm>
          <a:prstGeom prst="rect">
            <a:avLst/>
          </a:prstGeom>
          <a:noFill/>
        </p:spPr>
        <p:txBody>
          <a:bodyPr wrap="square" anchor="ctr">
            <a:spAutoFit/>
          </a:bodyPr>
          <a:lstStyle/>
          <a:p>
            <a:pPr algn="l">
              <a:defRPr sz="2200" b="1" i="0">
                <a:solidFill>
                  <a:srgbClr val="454240"/>
                </a:solidFill>
                <a:latin typeface="Libre Baskerville"/>
              </a:defRPr>
            </a:pPr>
            <a:r>
              <a:t>Негізгі ерекшелігі</a:t>
            </a:r>
          </a:p>
        </p:txBody>
      </p:sp>
      <p:sp>
        <p:nvSpPr>
          <p:cNvPr id="8" name="TextBox 7"/>
          <p:cNvSpPr txBox="1"/>
          <p:nvPr/>
        </p:nvSpPr>
        <p:spPr>
          <a:xfrm>
            <a:off x="1397000" y="5842000"/>
            <a:ext cx="3530600" cy="1143000"/>
          </a:xfrm>
          <a:prstGeom prst="rect">
            <a:avLst/>
          </a:prstGeom>
          <a:noFill/>
        </p:spPr>
        <p:txBody>
          <a:bodyPr wrap="square" anchor="t">
            <a:spAutoFit/>
          </a:bodyPr>
          <a:lstStyle/>
          <a:p>
            <a:pPr algn="l">
              <a:defRPr sz="1750" b="0" i="0">
                <a:solidFill>
                  <a:srgbClr val="454240"/>
                </a:solidFill>
                <a:latin typeface="DM Sans"/>
              </a:defRPr>
            </a:pPr>
            <a:r>
              <a:t>Swing – бұл Java тілінде жазылған GUI компоненттерінің бай жинағы, ол жеңіл салмақтылығымен танымал.</a:t>
            </a:r>
          </a:p>
        </p:txBody>
      </p:sp>
      <p:sp>
        <p:nvSpPr>
          <p:cNvPr id="9" name="TextBox 8"/>
          <p:cNvSpPr txBox="1"/>
          <p:nvPr/>
        </p:nvSpPr>
        <p:spPr>
          <a:xfrm>
            <a:off x="5435600" y="5143500"/>
            <a:ext cx="3530600" cy="635000"/>
          </a:xfrm>
          <a:prstGeom prst="rect">
            <a:avLst/>
          </a:prstGeom>
          <a:noFill/>
        </p:spPr>
        <p:txBody>
          <a:bodyPr wrap="square" anchor="ctr">
            <a:spAutoFit/>
          </a:bodyPr>
          <a:lstStyle/>
          <a:p>
            <a:pPr algn="l">
              <a:defRPr sz="2200" b="1" i="0">
                <a:solidFill>
                  <a:srgbClr val="454240"/>
                </a:solidFill>
                <a:latin typeface="Libre Baskerville"/>
              </a:defRPr>
            </a:pPr>
            <a:r>
              <a:t>Гъбкіршілдік</a:t>
            </a:r>
          </a:p>
        </p:txBody>
      </p:sp>
      <p:sp>
        <p:nvSpPr>
          <p:cNvPr id="10" name="TextBox 9"/>
          <p:cNvSpPr txBox="1"/>
          <p:nvPr/>
        </p:nvSpPr>
        <p:spPr>
          <a:xfrm>
            <a:off x="5435600" y="5842000"/>
            <a:ext cx="3530600" cy="1143000"/>
          </a:xfrm>
          <a:prstGeom prst="rect">
            <a:avLst/>
          </a:prstGeom>
          <a:noFill/>
        </p:spPr>
        <p:txBody>
          <a:bodyPr wrap="square" anchor="t">
            <a:spAutoFit/>
          </a:bodyPr>
          <a:lstStyle/>
          <a:p>
            <a:pPr algn="l">
              <a:defRPr sz="1750" b="0" i="0">
                <a:solidFill>
                  <a:srgbClr val="454240"/>
                </a:solidFill>
                <a:latin typeface="DM Sans"/>
              </a:defRPr>
            </a:pPr>
            <a:r>
              <a:t>Swing өзінің гъбкіршілдігімен және оңай пайдалану мүмкіндігімен ерекшеленеді, бұл әзірлеушілерге ыңғайлы.</a:t>
            </a:r>
          </a:p>
        </p:txBody>
      </p:sp>
      <p:sp>
        <p:nvSpPr>
          <p:cNvPr id="11" name="TextBox 10"/>
          <p:cNvSpPr txBox="1"/>
          <p:nvPr/>
        </p:nvSpPr>
        <p:spPr>
          <a:xfrm>
            <a:off x="9474200" y="5143500"/>
            <a:ext cx="3530600" cy="635000"/>
          </a:xfrm>
          <a:prstGeom prst="rect">
            <a:avLst/>
          </a:prstGeom>
          <a:noFill/>
        </p:spPr>
        <p:txBody>
          <a:bodyPr wrap="square" anchor="ctr">
            <a:spAutoFit/>
          </a:bodyPr>
          <a:lstStyle/>
          <a:p>
            <a:pPr algn="l">
              <a:defRPr sz="2200" b="1" i="0">
                <a:solidFill>
                  <a:srgbClr val="454240"/>
                </a:solidFill>
                <a:latin typeface="Libre Baskerville"/>
              </a:defRPr>
            </a:pPr>
            <a:r>
              <a:t>Қолданыс</a:t>
            </a:r>
          </a:p>
        </p:txBody>
      </p:sp>
      <p:sp>
        <p:nvSpPr>
          <p:cNvPr id="12" name="TextBox 11"/>
          <p:cNvSpPr txBox="1"/>
          <p:nvPr/>
        </p:nvSpPr>
        <p:spPr>
          <a:xfrm>
            <a:off x="9474200" y="5842000"/>
            <a:ext cx="3530600" cy="1143000"/>
          </a:xfrm>
          <a:prstGeom prst="rect">
            <a:avLst/>
          </a:prstGeom>
          <a:noFill/>
        </p:spPr>
        <p:txBody>
          <a:bodyPr wrap="square" anchor="t">
            <a:spAutoFit/>
          </a:bodyPr>
          <a:lstStyle/>
          <a:p>
            <a:pPr algn="l">
              <a:defRPr sz="1750" b="0" i="0">
                <a:solidFill>
                  <a:srgbClr val="454240"/>
                </a:solidFill>
                <a:latin typeface="DM Sans"/>
              </a:defRPr>
            </a:pPr>
            <a:r>
              <a:t>Swing әдетте веб-қосымшалар мен жұмыс үстелі бағдарламаларын жасау үшін қолданылады.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9144000" y="0"/>
            <a:ext cx="5486400" cy="8229600"/>
          </a:xfrm>
          <a:prstGeom prst="rect">
            <a:avLst/>
          </a:prstGeom>
        </p:spPr>
      </p:pic>
      <p:sp>
        <p:nvSpPr>
          <p:cNvPr id="3" name="TextBox 2"/>
          <p:cNvSpPr txBox="1"/>
          <p:nvPr/>
        </p:nvSpPr>
        <p:spPr>
          <a:xfrm>
            <a:off x="762000" y="254000"/>
            <a:ext cx="8128000" cy="2120900"/>
          </a:xfrm>
          <a:prstGeom prst="rect">
            <a:avLst/>
          </a:prstGeom>
          <a:noFill/>
        </p:spPr>
        <p:txBody>
          <a:bodyPr wrap="square" anchor="b">
            <a:spAutoFit/>
          </a:bodyPr>
          <a:lstStyle/>
          <a:p>
            <a:pPr algn="l">
              <a:defRPr sz="4400" b="1" i="0">
                <a:solidFill>
                  <a:srgbClr val="5C4E3D"/>
                </a:solidFill>
                <a:latin typeface="Libre Baskerville"/>
              </a:defRPr>
            </a:pPr>
            <a:r>
              <a:t>GUI болашағы</a:t>
            </a:r>
          </a:p>
        </p:txBody>
      </p:sp>
      <p:sp>
        <p:nvSpPr>
          <p:cNvPr id="4" name="Rounded Rectangle 3"/>
          <p:cNvSpPr/>
          <p:nvPr/>
        </p:nvSpPr>
        <p:spPr>
          <a:xfrm>
            <a:off x="1073150" y="2984500"/>
            <a:ext cx="12700" cy="33020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89000" y="3175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29210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1</a:t>
            </a:r>
          </a:p>
        </p:txBody>
      </p:sp>
      <p:sp>
        <p:nvSpPr>
          <p:cNvPr id="7" name="Rounded Rectangle 6"/>
          <p:cNvSpPr/>
          <p:nvPr/>
        </p:nvSpPr>
        <p:spPr>
          <a:xfrm>
            <a:off x="1270000" y="33591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9000" y="4445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9000" y="41783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2</a:t>
            </a:r>
          </a:p>
        </p:txBody>
      </p:sp>
      <p:sp>
        <p:nvSpPr>
          <p:cNvPr id="10" name="Rounded Rectangle 9"/>
          <p:cNvSpPr/>
          <p:nvPr/>
        </p:nvSpPr>
        <p:spPr>
          <a:xfrm>
            <a:off x="1270000" y="46291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00" y="5715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000" y="54483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3</a:t>
            </a:r>
          </a:p>
        </p:txBody>
      </p:sp>
      <p:sp>
        <p:nvSpPr>
          <p:cNvPr id="13" name="Rounded Rectangle 12"/>
          <p:cNvSpPr/>
          <p:nvPr/>
        </p:nvSpPr>
        <p:spPr>
          <a:xfrm>
            <a:off x="1270000" y="58991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05000" y="2984500"/>
            <a:ext cx="6985000" cy="381000"/>
          </a:xfrm>
          <a:prstGeom prst="rect">
            <a:avLst/>
          </a:prstGeom>
          <a:noFill/>
        </p:spPr>
        <p:txBody>
          <a:bodyPr wrap="square" anchor="t">
            <a:spAutoFit/>
          </a:bodyPr>
          <a:lstStyle/>
          <a:p>
            <a:pPr algn="l">
              <a:defRPr sz="2200" b="1" i="0">
                <a:solidFill>
                  <a:srgbClr val="454240"/>
                </a:solidFill>
                <a:latin typeface="Libre Baskerville"/>
              </a:defRPr>
            </a:pPr>
            <a:r>
              <a:t>Технологиялық даму</a:t>
            </a:r>
          </a:p>
        </p:txBody>
      </p:sp>
      <p:sp>
        <p:nvSpPr>
          <p:cNvPr id="15" name="TextBox 14"/>
          <p:cNvSpPr txBox="1"/>
          <p:nvPr/>
        </p:nvSpPr>
        <p:spPr>
          <a:xfrm>
            <a:off x="1905000" y="3365500"/>
            <a:ext cx="6985000" cy="1143000"/>
          </a:xfrm>
          <a:prstGeom prst="rect">
            <a:avLst/>
          </a:prstGeom>
          <a:noFill/>
        </p:spPr>
        <p:txBody>
          <a:bodyPr wrap="square" anchor="t">
            <a:spAutoFit/>
          </a:bodyPr>
          <a:lstStyle/>
          <a:p>
            <a:pPr algn="l">
              <a:defRPr sz="1750" b="0" i="0">
                <a:solidFill>
                  <a:srgbClr val="454240"/>
                </a:solidFill>
                <a:latin typeface="DM Sans"/>
              </a:defRPr>
            </a:pPr>
            <a:r>
              <a:t>GUI технологиялары үнемі дамып, жасанды интеллект және виртуалды шындық сияқты жаңа мүмкіндіктермен байытылуда.</a:t>
            </a:r>
          </a:p>
        </p:txBody>
      </p:sp>
      <p:sp>
        <p:nvSpPr>
          <p:cNvPr id="16" name="TextBox 15"/>
          <p:cNvSpPr txBox="1"/>
          <p:nvPr/>
        </p:nvSpPr>
        <p:spPr>
          <a:xfrm>
            <a:off x="1905000" y="4254500"/>
            <a:ext cx="6985000" cy="381000"/>
          </a:xfrm>
          <a:prstGeom prst="rect">
            <a:avLst/>
          </a:prstGeom>
          <a:noFill/>
        </p:spPr>
        <p:txBody>
          <a:bodyPr wrap="square" anchor="t">
            <a:spAutoFit/>
          </a:bodyPr>
          <a:lstStyle/>
          <a:p>
            <a:pPr algn="l">
              <a:defRPr sz="2200" b="1" i="0">
                <a:solidFill>
                  <a:srgbClr val="454240"/>
                </a:solidFill>
                <a:latin typeface="Libre Baskerville"/>
              </a:defRPr>
            </a:pPr>
            <a:r>
              <a:t>Жаңа интерфейстер</a:t>
            </a:r>
          </a:p>
        </p:txBody>
      </p:sp>
      <p:sp>
        <p:nvSpPr>
          <p:cNvPr id="17" name="TextBox 16"/>
          <p:cNvSpPr txBox="1"/>
          <p:nvPr/>
        </p:nvSpPr>
        <p:spPr>
          <a:xfrm>
            <a:off x="1905000" y="4635500"/>
            <a:ext cx="6985000" cy="1143000"/>
          </a:xfrm>
          <a:prstGeom prst="rect">
            <a:avLst/>
          </a:prstGeom>
          <a:noFill/>
        </p:spPr>
        <p:txBody>
          <a:bodyPr wrap="square" anchor="t">
            <a:spAutoFit/>
          </a:bodyPr>
          <a:lstStyle/>
          <a:p>
            <a:pPr algn="l">
              <a:defRPr sz="1750" b="0" i="0">
                <a:solidFill>
                  <a:srgbClr val="454240"/>
                </a:solidFill>
                <a:latin typeface="DM Sans"/>
              </a:defRPr>
            </a:pPr>
            <a:r>
              <a:t>Сенсорлық экрандар мен дауыстық басқару интерфейстердің қолжетімділігі мен ыңғайлылығын арттыруда.</a:t>
            </a:r>
          </a:p>
        </p:txBody>
      </p:sp>
      <p:sp>
        <p:nvSpPr>
          <p:cNvPr id="18" name="TextBox 17"/>
          <p:cNvSpPr txBox="1"/>
          <p:nvPr/>
        </p:nvSpPr>
        <p:spPr>
          <a:xfrm>
            <a:off x="1905000" y="5524500"/>
            <a:ext cx="6985000" cy="381000"/>
          </a:xfrm>
          <a:prstGeom prst="rect">
            <a:avLst/>
          </a:prstGeom>
          <a:noFill/>
        </p:spPr>
        <p:txBody>
          <a:bodyPr wrap="square" anchor="t">
            <a:spAutoFit/>
          </a:bodyPr>
          <a:lstStyle/>
          <a:p>
            <a:pPr algn="l">
              <a:defRPr sz="2200" b="1" i="0">
                <a:solidFill>
                  <a:srgbClr val="454240"/>
                </a:solidFill>
                <a:latin typeface="Libre Baskerville"/>
              </a:defRPr>
            </a:pPr>
            <a:r>
              <a:t>Адам-компьютер</a:t>
            </a:r>
          </a:p>
        </p:txBody>
      </p:sp>
      <p:sp>
        <p:nvSpPr>
          <p:cNvPr id="19" name="TextBox 18"/>
          <p:cNvSpPr txBox="1"/>
          <p:nvPr/>
        </p:nvSpPr>
        <p:spPr>
          <a:xfrm>
            <a:off x="1905000" y="5905500"/>
            <a:ext cx="6985000" cy="1143000"/>
          </a:xfrm>
          <a:prstGeom prst="rect">
            <a:avLst/>
          </a:prstGeom>
          <a:noFill/>
        </p:spPr>
        <p:txBody>
          <a:bodyPr wrap="square" anchor="t">
            <a:spAutoFit/>
          </a:bodyPr>
          <a:lstStyle/>
          <a:p>
            <a:pPr algn="l">
              <a:defRPr sz="1750" b="0" i="0">
                <a:solidFill>
                  <a:srgbClr val="454240"/>
                </a:solidFill>
                <a:latin typeface="DM Sans"/>
              </a:defRPr>
            </a:pPr>
            <a:r>
              <a:t>GUI-дің үздіксіз дамуы адам мен компьютер арасындағы өзара әрекеттесуді одан әрі жеңілдетіп, жаңа мүмкіндіктер ашуда.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9144000" y="0"/>
            <a:ext cx="5486400" cy="8229600"/>
          </a:xfrm>
          <a:prstGeom prst="rect">
            <a:avLst/>
          </a:prstGeom>
        </p:spPr>
      </p:pic>
      <p:sp>
        <p:nvSpPr>
          <p:cNvPr id="3" name="TextBox 2"/>
          <p:cNvSpPr txBox="1"/>
          <p:nvPr/>
        </p:nvSpPr>
        <p:spPr>
          <a:xfrm>
            <a:off x="762000" y="1524000"/>
            <a:ext cx="7543800" cy="1905000"/>
          </a:xfrm>
          <a:prstGeom prst="rect">
            <a:avLst/>
          </a:prstGeom>
          <a:noFill/>
        </p:spPr>
        <p:txBody>
          <a:bodyPr wrap="square" anchor="b">
            <a:spAutoFit/>
          </a:bodyPr>
          <a:lstStyle/>
          <a:p>
            <a:pPr algn="l">
              <a:defRPr sz="4400" b="1" i="0">
                <a:solidFill>
                  <a:srgbClr val="5C4E3D"/>
                </a:solidFill>
                <a:latin typeface="Libre Baskerville"/>
              </a:defRPr>
            </a:pPr>
            <a:r>
              <a:t>Қорытынды</a:t>
            </a:r>
          </a:p>
        </p:txBody>
      </p:sp>
      <p:sp>
        <p:nvSpPr>
          <p:cNvPr id="4" name="TextBox 3"/>
          <p:cNvSpPr txBox="1"/>
          <p:nvPr/>
        </p:nvSpPr>
        <p:spPr>
          <a:xfrm>
            <a:off x="762000" y="3937000"/>
            <a:ext cx="7543800" cy="1803400"/>
          </a:xfrm>
          <a:prstGeom prst="rect">
            <a:avLst/>
          </a:prstGeom>
          <a:noFill/>
        </p:spPr>
        <p:txBody>
          <a:bodyPr wrap="square" anchor="t">
            <a:spAutoFit/>
          </a:bodyPr>
          <a:lstStyle/>
          <a:p>
            <a:pPr algn="l">
              <a:defRPr sz="1750" b="0" i="0">
                <a:solidFill>
                  <a:srgbClr val="454240"/>
                </a:solidFill>
                <a:latin typeface="DM Sans"/>
              </a:defRPr>
            </a:pPr>
            <a:r>
              <a:t>Графикалық пайдаланушы интерфейстері (GUI) компьютерлік технологиялардың ажырамас бөлігі болып табылады, олар бағдарламаларды пайдалануды жеңілдетеді және тиімділікті арттырады. Qt, GTK, Swing сияқты GUI кітапханалары әзірлеушілерге күрделі интерфейстерді жылдам жасауға мүмкіндік береді. Технологиялар дамыған сайын, GUI виртуалды шындық, жасанды интеллект және дауыстық басқару сияқты жаңа мүмкіндіктермен толықтырылып, адам мен компьютер арасындағы өзара іс-қимылды одан әрі жақсартады.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